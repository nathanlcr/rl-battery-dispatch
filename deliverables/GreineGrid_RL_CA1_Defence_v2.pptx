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test cost (AUD)</c:v>
                </c:pt>
              </c:strCache>
            </c:strRef>
          </c:tx>
          <c:spPr>
            <a:solidFill>
              <a:srgbClr val="94A3B8">
                <a:alpha val="100000"/>
              </a:srgbClr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9770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D9770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10203A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No battery</c:v>
                  </c:pt>
                  <c:pt idx="1">
                    <c:v>Tertile rule</c:v>
                  </c:pt>
                  <c:pt idx="2">
                    <c:v>SARSA</c:v>
                  </c:pt>
                  <c:pt idx="3">
                    <c:v>Q-Learning</c:v>
                  </c:pt>
                  <c:pt idx="4">
                    <c:v>Greedy self-consumption</c:v>
                  </c:pt>
                  <c:pt idx="5">
                    <c:v>Oracle (perfect foresight)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160.75</c:v>
                </c:pt>
                <c:pt idx="1">
                  <c:v>92.4</c:v>
                </c:pt>
                <c:pt idx="2">
                  <c:v>63.75</c:v>
                </c:pt>
                <c:pt idx="3">
                  <c:v>62.02</c:v>
                </c:pt>
                <c:pt idx="4">
                  <c:v>52.15</c:v>
                </c:pt>
                <c:pt idx="5">
                  <c:v>49.19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8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SPEAKER: Member 1 | 0:15 | Say: "We're GreineQ - reinforcement learning for home battery dispatch on a solar microgrid. We built tabular Q-Learning and SARSA from scratch in NumPy, on real Ausgrid and AEMO data. Live demo at greineq-agent.sudocod.com." Don't read the subtitle. Handoff: none yet - go straight to slide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SPEAKER: Member 1 | 0:35 | Say: "Solar peaks at midday; demand peaks morning and evening - point at the chart. Without a battery, surplus is exported cheap and the evening is bought dear. The controller decides every 30 minutes: hold, charge, or discharge - 48 steps a day. It's sequential decision-making, not prediction: today's action changes tomorrow's battery state." Q&amp;A you own: why not price forecasting -&gt; one action affects future SOC, not a one-shot problem.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SPEAKER: Member 1 | 0:35 | Say: "We model one day as a 48-step MDP: 324 discretised states - state of charge, solar, load, price, time of day - and three actions. Physics: 10 kWh battery, 5 kW limits, SOC clamped 10-90%. We implemented Q-Learning and SARSA from scratch in NumPy and compare against four baselines, from a no-battery floor to a perfect-foresight oracle." Handoff: "[Member 2] will take reward design and results." Q&amp;A you own: why 324 states, why tabular not deep -&gt; exact table, interpretable, no NN instability at this scale.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SPEAKER: Member 2 | 0:40 | This is the project's strongest argument - treat it as such. Say: "Our first reward was a wholesale-price proxy. The agent looked good in training and lost on the real bill - reward-metric misalignment. v2 monetises everything in AUD: retail margin on imports, feed-in value of wasted solar, optional degradation. Now reward ranking matches bill ranking - verified in an ablation." Q&amp;A you own: how do you know v2 is right -&gt; reward-redesign ablation, Section 4.5, Table VI.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SPEAKER: Member 2 | 0:40 | Say: "No battery: 160.75 AUD over 53 days. A perfect-foresight oracle: 49.19 - the theoretical floor. Q-Learning 62.02 and SARSA 63.75 beat the tertile rule by 31-33%. But greedy self-consumption reaches 52.15. RL beats the weak rule, not the strong heuristic - and we report that honestly; it's the next slide, not a weakness to hide." Do NOT rush the numbers; point at the bars.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SPEAKER: Member 3 | 0:35 | Say: "The most important result is not that RL beats every baseline - it's that a simple heuristic already captures 97.4% of what's achievable. With solar-only charging and coarse states, charging every surplus and covering every deficit is near-optimal." Use the dashboard live only if the panel asks. Q&amp;A you own: 'so why use RL?' -&gt; next slide: grid charging, arbitrage, fleet coordination.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SPEAKER: Member 3 | 0:35 | Active defence against the hardest question: 'if the heuristic wins, why RL?' All three must be able to say from memory: "RL value increases with grid charging, export tariffs, or fleet-level aggregation - scoped for CA2, not because RL failed here." Multi-seed: Q-Learning 61.75 ± 2.14, SARSA 61.62 ± 0.86, p = 0.90. Also own: the Double Q-Learning terminal-update bug - know how it was found and fixed.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SPEAKER: Member 1 closes (who opened, closes) | 0:25 | Speak to the panel, not the slide. Four takeaways, then: "Questions?" - and stop talking. Let the silence work. Total target: 4:45 with a 15-second buffer before the hard 5:00 cut.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0" y="502920"/>
            <a:ext cx="502920" cy="50292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3" name="Shape 1"/>
          <p:cNvSpPr/>
          <p:nvPr/>
        </p:nvSpPr>
        <p:spPr>
          <a:xfrm>
            <a:off x="8294065" y="658825"/>
            <a:ext cx="191110" cy="191110"/>
          </a:xfrm>
          <a:prstGeom prst="ellipse">
            <a:avLst/>
          </a:prstGeom>
          <a:solidFill>
            <a:srgbClr val="FDE68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7772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DE68A"/>
                </a:solidFill>
              </a:rPr>
              <a:t>B9AI105 · REINFORCEMENT LEARNING · CA1 DEFENCE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23444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GréineGrid Qagent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640080" y="2240280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Tabular reinforcement learning for home battery dispatch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on a solar-connected microgrid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342900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[Member 1 Name]   ·   [Member 2 Name]   ·   [Member 3 Name]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Dublin Business School · MSc Artificial Intelligence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42062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DE68A"/>
                </a:solidFill>
              </a:rPr>
              <a:t>Live demo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greineq-agent.sudocod.com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320040"/>
            <a:ext cx="256032" cy="256032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3" name="Shape 1"/>
          <p:cNvSpPr/>
          <p:nvPr/>
        </p:nvSpPr>
        <p:spPr>
          <a:xfrm>
            <a:off x="8583290" y="399410"/>
            <a:ext cx="97292" cy="97292"/>
          </a:xfrm>
          <a:prstGeom prst="ellipse">
            <a:avLst/>
          </a:prstGeom>
          <a:solidFill>
            <a:srgbClr val="FDE68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00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Solar peaks at noon. Demand peaks at night.</a:t>
            </a:r>
            <a:endParaRPr lang="en-US" sz="2800" dirty="0"/>
          </a:p>
        </p:txBody>
      </p:sp>
      <p:pic>
        <p:nvPicPr>
          <p:cNvPr id="5" name="Image 0" descr="/tmp/deck/daily_profi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09160" y="1051560"/>
            <a:ext cx="3977640" cy="22128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709160" y="3310128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Avg daily profile — Ausgrid Customer 1 (load, PV, NSW1 price)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114300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E293B"/>
                </a:solidFill>
              </a:rPr>
              <a:t>Without storage, surplus midday solar is exported at a low feed-in rate while the evening peak is bought at retail prices.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E293B"/>
                </a:solidFill>
              </a:rPr>
              <a:t>A home battery can shift energy in time — but every 30 minutes it must decide: hold, charge, or discharge.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</a:rPr>
              <a:t>48 decisions per day. No labelled “correct” action exists.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57200" y="365760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FBF6EC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85800" y="3767328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</a:rPr>
              <a:t>Real data: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Ausgrid half-hourly household load + rooftop PV (2012–13)  ·  AEMO NSW1 wholesale spot prices, merged per 30-min interval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72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GréineGrid Qagent · B9AI105 CA1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8503920" y="480060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320040"/>
            <a:ext cx="256032" cy="256032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3" name="Shape 1"/>
          <p:cNvSpPr/>
          <p:nvPr/>
        </p:nvSpPr>
        <p:spPr>
          <a:xfrm>
            <a:off x="8583290" y="399410"/>
            <a:ext cx="97292" cy="97292"/>
          </a:xfrm>
          <a:prstGeom prst="ellipse">
            <a:avLst/>
          </a:prstGeom>
          <a:solidFill>
            <a:srgbClr val="FDE68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00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Method, in three numbers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2651760" cy="2286000"/>
          </a:xfrm>
          <a:prstGeom prst="roundRect">
            <a:avLst>
              <a:gd name="adj" fmla="val 4000"/>
            </a:avLst>
          </a:prstGeom>
          <a:solidFill>
            <a:srgbClr val="EFF6F1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23444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16A34A"/>
                </a:solidFill>
              </a:rPr>
              <a:t>324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457200" y="21031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</a:rPr>
              <a:t>discretised states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2487168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SOC × PV × load × price × time-of-day (tertile bins, fitted on train only)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1097280"/>
            <a:ext cx="2651760" cy="2286000"/>
          </a:xfrm>
          <a:prstGeom prst="roundRect">
            <a:avLst>
              <a:gd name="adj" fmla="val 4000"/>
            </a:avLst>
          </a:prstGeom>
          <a:solidFill>
            <a:srgbClr val="FBF6EC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91840" y="123444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D97706"/>
                </a:solidFill>
              </a:rPr>
              <a:t>2</a:t>
            </a:r>
            <a:endParaRPr lang="en-US" sz="5400" dirty="0"/>
          </a:p>
        </p:txBody>
      </p:sp>
      <p:sp>
        <p:nvSpPr>
          <p:cNvPr id="11" name="Text 9"/>
          <p:cNvSpPr/>
          <p:nvPr/>
        </p:nvSpPr>
        <p:spPr>
          <a:xfrm>
            <a:off x="3291840" y="21031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</a:rPr>
              <a:t>agents from scratch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520440" y="2487168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Q-Learning (off-policy) &amp; SARSA (on-policy) — NumPy only, no RL libraries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1097280"/>
            <a:ext cx="2651760" cy="2286000"/>
          </a:xfrm>
          <a:prstGeom prst="roundRect">
            <a:avLst>
              <a:gd name="adj" fmla="val 4000"/>
            </a:avLst>
          </a:prstGeom>
          <a:solidFill>
            <a:srgbClr val="EFF6F1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126480" y="123444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16A34A"/>
                </a:solidFill>
              </a:rPr>
              <a:t>4</a:t>
            </a:r>
            <a:endParaRPr lang="en-US" sz="5400" dirty="0"/>
          </a:p>
        </p:txBody>
      </p:sp>
      <p:sp>
        <p:nvSpPr>
          <p:cNvPr id="15" name="Text 13"/>
          <p:cNvSpPr/>
          <p:nvPr/>
        </p:nvSpPr>
        <p:spPr>
          <a:xfrm>
            <a:off x="6126480" y="21031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</a:rPr>
              <a:t>baselines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355080" y="2487168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no-battery floor · tertile rule · greedy self-consumption · perfect-foresight oracle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3703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</a:rPr>
              <a:t>MDP: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48-step daily episodes · 3 actions (hold / charge from surplus / discharge to deficit) · 10 kWh, 5 kW battery · γ = 0.95 · 10,000 episodes · greedy test evaluation (ε = 0) on 53 held-out days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GréineGrid Qagent · B9AI105 CA1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503920" y="480060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320040"/>
            <a:ext cx="256032" cy="256032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3" name="Shape 1"/>
          <p:cNvSpPr/>
          <p:nvPr/>
        </p:nvSpPr>
        <p:spPr>
          <a:xfrm>
            <a:off x="8583290" y="399410"/>
            <a:ext cx="97292" cy="97292"/>
          </a:xfrm>
          <a:prstGeom prst="ellipse">
            <a:avLst/>
          </a:prstGeom>
          <a:solidFill>
            <a:srgbClr val="FDE68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004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Reward design decided what the agent learned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4023360" cy="2468880"/>
          </a:xfrm>
          <a:prstGeom prst="roundRect">
            <a:avLst>
              <a:gd name="adj" fmla="val 3704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4748B"/>
                </a:solidFill>
              </a:rPr>
              <a:t>v1 — wholesale proxy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31520" y="1737360"/>
            <a:ext cx="3566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Penalised spot price only — no retail margin, no feed-in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Agent beat the rule baseline on reward…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1E293B"/>
                </a:solidFill>
              </a:rPr>
              <a:t>…while losing on the actual bill (23.02 vs 18.80 AUD)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434840" y="205740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97706"/>
                </a:solidFill>
              </a:rPr>
              <a:t>→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4800600" y="1097280"/>
            <a:ext cx="3886200" cy="2468880"/>
          </a:xfrm>
          <a:prstGeom prst="roundRect">
            <a:avLst>
              <a:gd name="adj" fmla="val 3704"/>
            </a:avLst>
          </a:prstGeom>
          <a:solidFill>
            <a:srgbClr val="FBF6EC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74920" y="12801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97706"/>
                </a:solidFill>
              </a:rPr>
              <a:t>v2 — monetised AUD cost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074920" y="1737360"/>
            <a:ext cx="3383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r = −(import × retail) − (waste × feed-in) − degradation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Training objective = evaluation metric (household bill)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1E293B"/>
                </a:solidFill>
              </a:rPr>
              <a:t>Reward ranking now matches bill ranking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3794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D97706"/>
                </a:solidFill>
              </a:rPr>
              <a:t>“The training reward diverged from the evaluation metric — the agent could look better on paper while doing worse on the bill.”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GréineGrid Qagent · B9AI105 CA1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503920" y="480060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320040"/>
            <a:ext cx="256032" cy="256032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3" name="Shape 1"/>
          <p:cNvSpPr/>
          <p:nvPr/>
        </p:nvSpPr>
        <p:spPr>
          <a:xfrm>
            <a:off x="8583290" y="399410"/>
            <a:ext cx="97292" cy="97292"/>
          </a:xfrm>
          <a:prstGeom prst="ellipse">
            <a:avLst/>
          </a:prstGeom>
          <a:solidFill>
            <a:srgbClr val="FDE68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 test-split cost, 53 days — lower is better</a:t>
            </a:r>
            <a:endParaRPr lang="en-US" sz="28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005840"/>
          <a:ext cx="82296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Q-Learning −32.9% and SARSA −31.0% vs the tertile rule — but both sit 19–22% above greedy self-consumption.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GréineGrid Qagent · B9AI105 CA1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8503920" y="480060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320040"/>
            <a:ext cx="256032" cy="256032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3" name="Shape 1"/>
          <p:cNvSpPr/>
          <p:nvPr/>
        </p:nvSpPr>
        <p:spPr>
          <a:xfrm>
            <a:off x="8583290" y="399410"/>
            <a:ext cx="97292" cy="97292"/>
          </a:xfrm>
          <a:prstGeom prst="ellipse">
            <a:avLst/>
          </a:prstGeom>
          <a:solidFill>
            <a:srgbClr val="FDE68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00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headline finding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4023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D97706"/>
                </a:solidFill>
              </a:rPr>
              <a:t>97.4%</a:t>
            </a:r>
            <a:endParaRPr lang="en-US" sz="88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</a:rPr>
              <a:t>of the oracle's achievable saving is already captured by simple greedy self-consumption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3291840"/>
            <a:ext cx="4023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</a:rPr>
              <a:t>Self-consumption rate:  0.76 greedy vs 0.60 rule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</a:rPr>
              <a:t>Self-sufficiency:  0.80 greedy vs 0.58 rule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</a:rPr>
              <a:t>Evening peak import:  0.77 vs 1.74 kWh/step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b="1" dirty="0">
                <a:solidFill>
                  <a:srgbClr val="1E293B"/>
                </a:solidFill>
              </a:rPr>
              <a:t>Bottleneck = problem structure + state coarseness, not the TD algorithm</a:t>
            </a:r>
            <a:endParaRPr lang="en-US" sz="1250" dirty="0"/>
          </a:p>
        </p:txBody>
      </p:sp>
      <p:pic>
        <p:nvPicPr>
          <p:cNvPr id="8" name="Image 0" descr="/tmp/deck/twi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892040" y="1051560"/>
            <a:ext cx="3246120" cy="35661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709160" y="4617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Digital twin — multi-policy replay of one test day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572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GréineGrid Qagent · B9AI105 CA1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8503920" y="480060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320040"/>
            <a:ext cx="256032" cy="256032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3" name="Shape 1"/>
          <p:cNvSpPr/>
          <p:nvPr/>
        </p:nvSpPr>
        <p:spPr>
          <a:xfrm>
            <a:off x="8583290" y="399410"/>
            <a:ext cx="97292" cy="97292"/>
          </a:xfrm>
          <a:prstGeom prst="ellipse">
            <a:avLst/>
          </a:prstGeom>
          <a:solidFill>
            <a:srgbClr val="FDE68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00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we're not claiming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4023360" cy="3246120"/>
          </a:xfrm>
          <a:prstGeom prst="roundRect">
            <a:avLst>
              <a:gd name="adj" fmla="val 2817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2344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Known limitations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1691640"/>
            <a:ext cx="3566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</a:rPr>
              <a:t>Single customer; 2012–13 tariffs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</a:rPr>
              <a:t>Solar-only dispatch — no grid charging or export arbitrage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</a:rPr>
              <a:t>Time-of-day bins break strict Markov property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b="1" dirty="0">
                <a:solidFill>
                  <a:srgbClr val="1E293B"/>
                </a:solidFill>
              </a:rPr>
              <a:t>5 seeds × 10k: Q-Learning 61.75 ± 2.14 AUD, SARSA 61.62 ± 0.86 AUD (paired t-test p = 0.90)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663440" y="1051560"/>
            <a:ext cx="4023360" cy="3246120"/>
          </a:xfrm>
          <a:prstGeom prst="roundRect">
            <a:avLst>
              <a:gd name="adj" fmla="val 2817"/>
            </a:avLst>
          </a:prstGeom>
          <a:solidFill>
            <a:srgbClr val="EFF6F1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12344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A34A"/>
                </a:solidFill>
              </a:rPr>
              <a:t>Where RL earns its place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937760" y="1691640"/>
            <a:ext cx="35204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1E293B"/>
                </a:solidFill>
              </a:rPr>
              <a:t>Correct wiring + a simple controller already delivers most of the benefit here.</a:t>
            </a:r>
            <a:endParaRPr lang="en-US" sz="12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1E293B"/>
                </a:solidFill>
              </a:rPr>
              <a:t>RL's value rises with grid charging, price arbitrage, and fleet-level coordination — scoped as CA2 extensions on this same MDP and codebase.</a:t>
            </a:r>
            <a:endParaRPr lang="en-US" sz="1250" dirty="0"/>
          </a:p>
          <a:p>
            <a:pPr indent="0" marL="0">
              <a:buNone/>
            </a:pPr>
            <a:r>
              <a:rPr lang="en-US" sz="1250" b="1" i="1" dirty="0">
                <a:solidFill>
                  <a:srgbClr val="1E293B"/>
                </a:solidFill>
              </a:rPr>
              <a:t>Not because RL failed here — because the problem hasn't needed it yet.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72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GréineGrid Qagent · B9AI105 CA1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503920" y="480060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0" y="502920"/>
            <a:ext cx="502920" cy="50292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3" name="Shape 1"/>
          <p:cNvSpPr/>
          <p:nvPr/>
        </p:nvSpPr>
        <p:spPr>
          <a:xfrm>
            <a:off x="8294065" y="658825"/>
            <a:ext cx="191110" cy="191110"/>
          </a:xfrm>
          <a:prstGeom prst="ellipse">
            <a:avLst/>
          </a:prstGeom>
          <a:solidFill>
            <a:srgbClr val="FDE68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486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78638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E2E8F0"/>
                </a:solidFill>
              </a:rPr>
              <a:t>Reward design determines what the agent learns — v1→v2 fixed a real training/evaluation misalignment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E2E8F0"/>
                </a:solidFill>
              </a:rPr>
              <a:t>Q-Learning &amp; SARSA beat weak rules (−31–33%), not strong heuristics (+19–22% vs greedy SC)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E2E8F0"/>
                </a:solidFill>
              </a:rPr>
              <a:t>Greedy self-consumption sets a high, realistic ceiling — 97.4% of achievable savings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E2E8F0"/>
                </a:solidFill>
              </a:rPr>
              <a:t>Next (CA2): grid charging, tariff arbitrage, cross-household transfer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DE68A"/>
                </a:solidFill>
              </a:rPr>
              <a:t>Questions?</a:t>
            </a:r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    ·    greineq-agent.sudocod.com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GreineGrid Qagent - B9AI105 CA1 Defence</dc:title>
  <dc:subject>PptxGenJS Presentation</dc:subject>
  <dc:creator>GreineQ Team</dc:creator>
  <cp:lastModifiedBy>GreineQ Team</cp:lastModifiedBy>
  <cp:revision>1</cp:revision>
  <dcterms:created xsi:type="dcterms:W3CDTF">2026-07-07T14:13:31Z</dcterms:created>
  <dcterms:modified xsi:type="dcterms:W3CDTF">2026-07-07T14:13:31Z</dcterms:modified>
</cp:coreProperties>
</file>