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9144000" cx="16256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Speaker: Emmanuel</a:t>
            </a:r>
            <a:br>
              <a:rPr b="1" lang="en-US">
                <a:solidFill>
                  <a:schemeClr val="dk1"/>
                </a:solidFill>
              </a:rPr>
            </a:br>
            <a:r>
              <a:rPr b="1" lang="en-US">
                <a:solidFill>
                  <a:schemeClr val="dk1"/>
                </a:solidFill>
              </a:rPr>
              <a:t>Time: 35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Good morning. We are presenting GréineQ, our Reinforcement Learning system for home battery dispatch.</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project investigates how an intelligent controller can manage a household battery connected to solar panels and the electricity grid.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developed both the Reinforcement Learning environment and an interactive Digital Twin. During this presentation, we will explain our experimental design, report our evaluation results and demonstrate the working system.</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Our team members are Emmanuel, Nathan, Nadeesha and Bahadir.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Handover:</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 will begin by introducing the battery-management problem.</a:t>
            </a:r>
            <a:endParaRPr>
              <a:solidFill>
                <a:schemeClr val="dk1"/>
              </a:solidFill>
            </a:endParaRPr>
          </a:p>
          <a:p>
            <a:pPr indent="0" lvl="0" marL="0" rtl="0" algn="l">
              <a:spcBef>
                <a:spcPts val="1200"/>
              </a:spcBef>
              <a:spcAft>
                <a:spcPts val="0"/>
              </a:spcAft>
              <a:buNone/>
            </a:pPr>
            <a:r>
              <a:t/>
            </a:r>
            <a:endParaRPr/>
          </a:p>
        </p:txBody>
      </p:sp>
      <p:sp>
        <p:nvSpPr>
          <p:cNvPr id="82" name="Google Shape;82;p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Speaker: Emmanuel</a:t>
            </a:r>
            <a:br>
              <a:rPr b="1" lang="en-US">
                <a:solidFill>
                  <a:schemeClr val="dk1"/>
                </a:solidFill>
              </a:rPr>
            </a:br>
            <a:r>
              <a:rPr b="1" lang="en-US">
                <a:solidFill>
                  <a:schemeClr val="dk1"/>
                </a:solidFill>
              </a:rPr>
              <a:t>Time: 1 minute 10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 solar-connected household must continuously decide what to do with available electricity.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Solar energy can be used immediately, stored in the battery or exported to the grid. When solar generation is insufficient, the household can import electricity or discharge the battery.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These decisions are affected by changing household demand, solar generation, electricity prices and the battery’s current state of charge.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 poor decision can increase electricity cost. For example, exporting energy at a low price may be less valuable than storing it to avoid an expensive grid import later.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Our objective was therefore to minimise adjusted household electricity cost while respecting the battery’s physical operating constraints.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Reinforcement Learning is suitable for this sequential problem because every action changes both the immediate cost and the battery energy available for future timesteps.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Handover:</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Nathan will now explain how we represented this problem as a Reinforcement Learning environment.</a:t>
            </a:r>
            <a:endParaRPr>
              <a:solidFill>
                <a:schemeClr val="dk1"/>
              </a:solidFill>
            </a:endParaRPr>
          </a:p>
          <a:p>
            <a:pPr indent="0" lvl="0" marL="0" rtl="0" algn="l">
              <a:spcBef>
                <a:spcPts val="1200"/>
              </a:spcBef>
              <a:spcAft>
                <a:spcPts val="0"/>
              </a:spcAft>
              <a:buNone/>
            </a:pPr>
            <a:r>
              <a:t/>
            </a:r>
            <a:endParaRPr/>
          </a:p>
        </p:txBody>
      </p:sp>
      <p:sp>
        <p:nvSpPr>
          <p:cNvPr id="87" name="Google Shape;87;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Speaker: Nathan</a:t>
            </a:r>
            <a:br>
              <a:rPr b="1" lang="en-US">
                <a:solidFill>
                  <a:schemeClr val="dk1"/>
                </a:solidFill>
              </a:rPr>
            </a:br>
            <a:r>
              <a:rPr b="1" lang="en-US">
                <a:solidFill>
                  <a:schemeClr val="dk1"/>
                </a:solidFill>
              </a:rPr>
              <a:t>Time: 1 minute 15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In our system, the battery dispatch controller is the Reinforcement Learning agent.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environment represents a solar-connected virtual household and the electricity grid. One episode represents one day, divided into 48 half-hour timesteps.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state includes battery state of charge, solar generation, household demand, electricity price and time of day.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controller can choose from five actions: hold, charge from solar, discharge, charge from the grid or export stored electricity.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reward is based on negative adjusted electricity cost. It accounts for electricity purchases and export revenue, together with battery cycling cost and terminal state-of-charge value.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Our main algorithm is tabular Q-Learning. It estimates the expected long-term value of performing each action in each state.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During training, epsilon-greedy exploration allows the controller to test alternative actions. During evaluation, exploration is disabled and the highest-value valid action is selected.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SARSA and Double Q-Learning are also implemented for comparison, but the headline results focus on the Q-Learning controllers.</a:t>
            </a:r>
            <a:endParaRPr>
              <a:solidFill>
                <a:schemeClr val="dk1"/>
              </a:solidFill>
            </a:endParaRPr>
          </a:p>
          <a:p>
            <a:pPr indent="0" lvl="0" marL="0" rtl="0" algn="l">
              <a:spcBef>
                <a:spcPts val="1200"/>
              </a:spcBef>
              <a:spcAft>
                <a:spcPts val="0"/>
              </a:spcAft>
              <a:buNone/>
            </a:pPr>
            <a:r>
              <a:t/>
            </a:r>
            <a:endParaRPr/>
          </a:p>
        </p:txBody>
      </p:sp>
      <p:sp>
        <p:nvSpPr>
          <p:cNvPr id="92" name="Google Shape;92;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Speaker: Nathan</a:t>
            </a:r>
            <a:br>
              <a:rPr b="1" lang="en-US">
                <a:solidFill>
                  <a:schemeClr val="dk1"/>
                </a:solidFill>
              </a:rPr>
            </a:br>
            <a:r>
              <a:rPr b="1" lang="en-US">
                <a:solidFill>
                  <a:schemeClr val="dk1"/>
                </a:solidFill>
              </a:rPr>
              <a:t>Time: 1 minute 15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combined household demand and solar-generation data from the Ausgrid Solar Home Electricity dataset with NSW1 electricity-price data from AEMO.</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simulated battery has a capacity of 10 kilowatt-hours. Its state of charge is constrained between 10 and 90 per cent, and its maximum charging or discharging power is 5 kilowatts.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used chronological training, validation and held-out test splits to prevent future observations from leaking into training. Final evaluation used 53 held-out days and five training seeds.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compared two Q-Learning information setups.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Current Q uses current-state information only. Privileged Q additionally receives the true price direction over the following four hours, represented by three categories.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privileged signal was used only in the controlled experiment. The realistic forecast shown later in Agent Play is an interface feature and was not used to calculate the headline experimental results.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Handover:</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Nadeesha will present the results produced by this evaluation.</a:t>
            </a:r>
            <a:endParaRPr>
              <a:solidFill>
                <a:schemeClr val="dk1"/>
              </a:solidFill>
            </a:endParaRPr>
          </a:p>
          <a:p>
            <a:pPr indent="0" lvl="0" marL="0" rtl="0" algn="l">
              <a:spcBef>
                <a:spcPts val="1200"/>
              </a:spcBef>
              <a:spcAft>
                <a:spcPts val="0"/>
              </a:spcAft>
              <a:buNone/>
            </a:pPr>
            <a:r>
              <a:t/>
            </a:r>
            <a:endParaRPr/>
          </a:p>
        </p:txBody>
      </p:sp>
      <p:sp>
        <p:nvSpPr>
          <p:cNvPr id="97" name="Google Shape;97;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US" sz="1200">
                <a:solidFill>
                  <a:schemeClr val="dk1"/>
                </a:solidFill>
                <a:highlight>
                  <a:srgbClr val="00FFFF"/>
                </a:highlight>
                <a:latin typeface="Times New Roman"/>
                <a:ea typeface="Times New Roman"/>
                <a:cs typeface="Times New Roman"/>
                <a:sym typeface="Times New Roman"/>
              </a:rPr>
              <a:t>Lower adjusted net cost is better.</a:t>
            </a:r>
            <a:endParaRPr sz="1200">
              <a:solidFill>
                <a:schemeClr val="dk1"/>
              </a:solidFill>
              <a:highlight>
                <a:srgbClr val="00FFFF"/>
              </a:highlight>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US" sz="1200">
                <a:solidFill>
                  <a:schemeClr val="dk1"/>
                </a:solidFill>
                <a:highlight>
                  <a:srgbClr val="00FFFF"/>
                </a:highlight>
                <a:latin typeface="Times New Roman"/>
                <a:ea typeface="Times New Roman"/>
                <a:cs typeface="Times New Roman"/>
                <a:sym typeface="Times New Roman"/>
              </a:rPr>
              <a:t>The main result is that </a:t>
            </a:r>
            <a:r>
              <a:rPr b="1" lang="en-US" sz="1200">
                <a:solidFill>
                  <a:schemeClr val="dk1"/>
                </a:solidFill>
                <a:highlight>
                  <a:srgbClr val="00FFFF"/>
                </a:highlight>
                <a:latin typeface="Times New Roman"/>
                <a:ea typeface="Times New Roman"/>
                <a:cs typeface="Times New Roman"/>
                <a:sym typeface="Times New Roman"/>
              </a:rPr>
              <a:t>Greedy was the strongest deployable controller</a:t>
            </a:r>
            <a:r>
              <a:rPr lang="en-US" sz="1200">
                <a:solidFill>
                  <a:schemeClr val="dk1"/>
                </a:solidFill>
                <a:highlight>
                  <a:srgbClr val="00FFFF"/>
                </a:highlight>
                <a:latin typeface="Times New Roman"/>
                <a:ea typeface="Times New Roman"/>
                <a:cs typeface="Times New Roman"/>
                <a:sym typeface="Times New Roman"/>
              </a:rPr>
              <a:t>, achieving a cost of </a:t>
            </a:r>
            <a:r>
              <a:rPr b="1" lang="en-US" sz="1200">
                <a:solidFill>
                  <a:schemeClr val="dk1"/>
                </a:solidFill>
                <a:highlight>
                  <a:srgbClr val="00FFFF"/>
                </a:highlight>
                <a:latin typeface="Times New Roman"/>
                <a:ea typeface="Times New Roman"/>
                <a:cs typeface="Times New Roman"/>
                <a:sym typeface="Times New Roman"/>
              </a:rPr>
              <a:t>90.39 Australian dollars</a:t>
            </a:r>
            <a:r>
              <a:rPr lang="en-US" sz="1200">
                <a:solidFill>
                  <a:schemeClr val="dk1"/>
                </a:solidFill>
                <a:highlight>
                  <a:srgbClr val="00FFFF"/>
                </a:highlight>
                <a:latin typeface="Times New Roman"/>
                <a:ea typeface="Times New Roman"/>
                <a:cs typeface="Times New Roman"/>
                <a:sym typeface="Times New Roman"/>
              </a:rPr>
              <a:t>, compared with </a:t>
            </a:r>
            <a:r>
              <a:rPr b="1" lang="en-US" sz="1200">
                <a:solidFill>
                  <a:schemeClr val="dk1"/>
                </a:solidFill>
                <a:highlight>
                  <a:srgbClr val="00FFFF"/>
                </a:highlight>
                <a:latin typeface="Times New Roman"/>
                <a:ea typeface="Times New Roman"/>
                <a:cs typeface="Times New Roman"/>
                <a:sym typeface="Times New Roman"/>
              </a:rPr>
              <a:t>160.75 dollars</a:t>
            </a:r>
            <a:r>
              <a:rPr lang="en-US" sz="1200">
                <a:solidFill>
                  <a:schemeClr val="dk1"/>
                </a:solidFill>
                <a:highlight>
                  <a:srgbClr val="00FFFF"/>
                </a:highlight>
                <a:latin typeface="Times New Roman"/>
                <a:ea typeface="Times New Roman"/>
                <a:cs typeface="Times New Roman"/>
                <a:sym typeface="Times New Roman"/>
              </a:rPr>
              <a:t> for no battery.</a:t>
            </a:r>
            <a:endParaRPr sz="1200">
              <a:solidFill>
                <a:schemeClr val="dk1"/>
              </a:solidFill>
              <a:highlight>
                <a:srgbClr val="00FFFF"/>
              </a:highlight>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US" sz="1200">
                <a:solidFill>
                  <a:schemeClr val="dk1"/>
                </a:solidFill>
                <a:highlight>
                  <a:srgbClr val="00FFFF"/>
                </a:highlight>
                <a:latin typeface="Times New Roman"/>
                <a:ea typeface="Times New Roman"/>
                <a:cs typeface="Times New Roman"/>
                <a:sym typeface="Times New Roman"/>
              </a:rPr>
              <a:t>Current Q reached </a:t>
            </a:r>
            <a:r>
              <a:rPr b="1" lang="en-US" sz="1200">
                <a:solidFill>
                  <a:schemeClr val="dk1"/>
                </a:solidFill>
                <a:highlight>
                  <a:srgbClr val="00FFFF"/>
                </a:highlight>
                <a:latin typeface="Times New Roman"/>
                <a:ea typeface="Times New Roman"/>
                <a:cs typeface="Times New Roman"/>
                <a:sym typeface="Times New Roman"/>
              </a:rPr>
              <a:t>124.23 dollars</a:t>
            </a:r>
            <a:r>
              <a:rPr lang="en-US" sz="1200">
                <a:solidFill>
                  <a:schemeClr val="dk1"/>
                </a:solidFill>
                <a:highlight>
                  <a:srgbClr val="00FFFF"/>
                </a:highlight>
                <a:latin typeface="Times New Roman"/>
                <a:ea typeface="Times New Roman"/>
                <a:cs typeface="Times New Roman"/>
                <a:sym typeface="Times New Roman"/>
              </a:rPr>
              <a:t>, while Privileged Q performed worse at </a:t>
            </a:r>
            <a:r>
              <a:rPr b="1" lang="en-US" sz="1200">
                <a:solidFill>
                  <a:schemeClr val="dk1"/>
                </a:solidFill>
                <a:highlight>
                  <a:srgbClr val="00FFFF"/>
                </a:highlight>
                <a:latin typeface="Times New Roman"/>
                <a:ea typeface="Times New Roman"/>
                <a:cs typeface="Times New Roman"/>
                <a:sym typeface="Times New Roman"/>
              </a:rPr>
              <a:t>139.68 dollars</a:t>
            </a:r>
            <a:r>
              <a:rPr lang="en-US" sz="1200">
                <a:solidFill>
                  <a:schemeClr val="dk1"/>
                </a:solidFill>
                <a:highlight>
                  <a:srgbClr val="00FFFF"/>
                </a:highlight>
                <a:latin typeface="Times New Roman"/>
                <a:ea typeface="Times New Roman"/>
                <a:cs typeface="Times New Roman"/>
                <a:sym typeface="Times New Roman"/>
              </a:rPr>
              <a:t>.</a:t>
            </a:r>
            <a:endParaRPr sz="1200">
              <a:solidFill>
                <a:schemeClr val="dk1"/>
              </a:solidFill>
              <a:highlight>
                <a:srgbClr val="00FFFF"/>
              </a:highlight>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US" sz="1200">
                <a:solidFill>
                  <a:schemeClr val="dk1"/>
                </a:solidFill>
                <a:highlight>
                  <a:srgbClr val="00FFFF"/>
                </a:highlight>
                <a:latin typeface="Times New Roman"/>
                <a:ea typeface="Times New Roman"/>
                <a:cs typeface="Times New Roman"/>
                <a:sym typeface="Times New Roman"/>
              </a:rPr>
              <a:t>So, under this setup, the additional coarse foresight information did not improve the RL policy.</a:t>
            </a:r>
            <a:endParaRPr sz="1200">
              <a:solidFill>
                <a:schemeClr val="dk1"/>
              </a:solidFill>
              <a:highlight>
                <a:srgbClr val="00FFFF"/>
              </a:highlight>
              <a:latin typeface="Times New Roman"/>
              <a:ea typeface="Times New Roman"/>
              <a:cs typeface="Times New Roman"/>
              <a:sym typeface="Times New Roman"/>
            </a:endParaRPr>
          </a:p>
          <a:p>
            <a:pPr indent="0" lvl="0" marL="0" rtl="0" algn="l">
              <a:spcBef>
                <a:spcPts val="800"/>
              </a:spcBef>
              <a:spcAft>
                <a:spcPts val="0"/>
              </a:spcAft>
              <a:buNone/>
            </a:pPr>
            <a:r>
              <a:t/>
            </a:r>
            <a:endParaRPr b="1">
              <a:solidFill>
                <a:schemeClr val="dk1"/>
              </a:solidFill>
            </a:endParaRPr>
          </a:p>
        </p:txBody>
      </p:sp>
      <p:sp>
        <p:nvSpPr>
          <p:cNvPr id="102" name="Google Shape;10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US" sz="1200">
                <a:solidFill>
                  <a:schemeClr val="dk1"/>
                </a:solidFill>
                <a:highlight>
                  <a:srgbClr val="00FFFF"/>
                </a:highlight>
                <a:latin typeface="Times New Roman"/>
                <a:ea typeface="Times New Roman"/>
                <a:cs typeface="Times New Roman"/>
                <a:sym typeface="Times New Roman"/>
              </a:rPr>
              <a:t>These results were evaluated across </a:t>
            </a:r>
            <a:r>
              <a:rPr b="1" lang="en-US" sz="1200">
                <a:solidFill>
                  <a:schemeClr val="dk1"/>
                </a:solidFill>
                <a:highlight>
                  <a:srgbClr val="00FFFF"/>
                </a:highlight>
                <a:latin typeface="Times New Roman"/>
                <a:ea typeface="Times New Roman"/>
                <a:cs typeface="Times New Roman"/>
                <a:sym typeface="Times New Roman"/>
              </a:rPr>
              <a:t>53 held-out days and five training seeds</a:t>
            </a:r>
            <a:r>
              <a:rPr lang="en-US" sz="1200">
                <a:solidFill>
                  <a:schemeClr val="dk1"/>
                </a:solidFill>
                <a:highlight>
                  <a:srgbClr val="00FFFF"/>
                </a:highlight>
                <a:latin typeface="Times New Roman"/>
                <a:ea typeface="Times New Roman"/>
                <a:cs typeface="Times New Roman"/>
                <a:sym typeface="Times New Roman"/>
              </a:rPr>
              <a:t>, rather than only the single Digital Twin example.</a:t>
            </a:r>
            <a:endParaRPr sz="1200">
              <a:solidFill>
                <a:schemeClr val="dk1"/>
              </a:solidFill>
              <a:highlight>
                <a:srgbClr val="00FFFF"/>
              </a:highlight>
              <a:latin typeface="Times New Roman"/>
              <a:ea typeface="Times New Roman"/>
              <a:cs typeface="Times New Roman"/>
              <a:sym typeface="Times New Roman"/>
            </a:endParaRPr>
          </a:p>
          <a:p>
            <a:pPr indent="0" lvl="0" marL="0" rtl="0" algn="l">
              <a:lnSpc>
                <a:spcPct val="115000"/>
              </a:lnSpc>
              <a:spcBef>
                <a:spcPts val="800"/>
              </a:spcBef>
              <a:spcAft>
                <a:spcPts val="0"/>
              </a:spcAft>
              <a:buClr>
                <a:schemeClr val="dk1"/>
              </a:buClr>
              <a:buSzPts val="1100"/>
              <a:buFont typeface="Arial"/>
              <a:buNone/>
            </a:pPr>
            <a:r>
              <a:rPr lang="en-US" sz="1200">
                <a:solidFill>
                  <a:schemeClr val="dk1"/>
                </a:solidFill>
                <a:highlight>
                  <a:srgbClr val="00FFFF"/>
                </a:highlight>
                <a:latin typeface="Times New Roman"/>
                <a:ea typeface="Times New Roman"/>
                <a:cs typeface="Times New Roman"/>
                <a:sym typeface="Times New Roman"/>
              </a:rPr>
              <a:t>I’ll now show the aggregate evidence and experimental setup directly in the Results page.</a:t>
            </a:r>
            <a:endParaRPr sz="1200">
              <a:solidFill>
                <a:schemeClr val="dk1"/>
              </a:solidFill>
              <a:highlight>
                <a:srgbClr val="00FFFF"/>
              </a:highlight>
              <a:latin typeface="Times New Roman"/>
              <a:ea typeface="Times New Roman"/>
              <a:cs typeface="Times New Roman"/>
              <a:sym typeface="Times New Roman"/>
            </a:endParaRPr>
          </a:p>
          <a:p>
            <a:pPr indent="0" lvl="0" marL="0" rtl="0" algn="l">
              <a:spcBef>
                <a:spcPts val="800"/>
              </a:spcBef>
              <a:spcAft>
                <a:spcPts val="0"/>
              </a:spcAft>
              <a:buNone/>
            </a:pPr>
            <a:r>
              <a:t/>
            </a:r>
            <a:endParaRPr b="1">
              <a:solidFill>
                <a:schemeClr val="dk1"/>
              </a:solidFill>
            </a:endParaRPr>
          </a:p>
        </p:txBody>
      </p:sp>
      <p:sp>
        <p:nvSpPr>
          <p:cNvPr id="107" name="Google Shape;107;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Speaker: Bahadir</a:t>
            </a:r>
            <a:br>
              <a:rPr b="1" lang="en-US">
                <a:solidFill>
                  <a:schemeClr val="dk1"/>
                </a:solidFill>
              </a:rPr>
            </a:br>
            <a:r>
              <a:rPr b="1" lang="en-US">
                <a:solidFill>
                  <a:schemeClr val="dk1"/>
                </a:solidFill>
              </a:rPr>
              <a:t>Time on slide: 35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deployed the controllers through an interactive Digital Twin prototype.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Users can select a historical test day, compare multiple controllers and inspect costs, energy flows, actions and battery state of charge.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moves the project beyond theory and code by making the controller’s behaviour visible at both daily and individual-timestep levels.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will now switch to the application and demonstrate these features.</a:t>
            </a:r>
            <a:endParaRPr>
              <a:solidFill>
                <a:schemeClr val="dk1"/>
              </a:solidFill>
            </a:endParaRPr>
          </a:p>
          <a:p>
            <a:pPr indent="0" lvl="0" marL="0" rtl="0" algn="l">
              <a:lnSpc>
                <a:spcPct val="115000"/>
              </a:lnSpc>
              <a:spcBef>
                <a:spcPts val="1400"/>
              </a:spcBef>
              <a:spcAft>
                <a:spcPts val="0"/>
              </a:spcAft>
              <a:buClr>
                <a:schemeClr val="dk1"/>
              </a:buClr>
              <a:buSzPts val="1100"/>
              <a:buFont typeface="Arial"/>
              <a:buNone/>
            </a:pPr>
            <a:r>
              <a:rPr b="1" lang="en-US" sz="1300">
                <a:solidFill>
                  <a:schemeClr val="dk1"/>
                </a:solidFill>
              </a:rPr>
              <a:t>Live demonstration: Digital Twin setup</a:t>
            </a:r>
            <a:endParaRPr b="1" sz="13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Operator: Nathan</a:t>
            </a:r>
            <a:br>
              <a:rPr b="1" lang="en-US">
                <a:solidFill>
                  <a:schemeClr val="dk1"/>
                </a:solidFill>
              </a:rPr>
            </a:br>
            <a:r>
              <a:rPr b="1" lang="en-US">
                <a:solidFill>
                  <a:schemeClr val="dk1"/>
                </a:solidFill>
              </a:rPr>
              <a:t>Speaker: Emmanuel</a:t>
            </a:r>
            <a:br>
              <a:rPr b="1" lang="en-US">
                <a:solidFill>
                  <a:schemeClr val="dk1"/>
                </a:solidFill>
              </a:rPr>
            </a:br>
            <a:r>
              <a:rPr b="1" lang="en-US">
                <a:solidFill>
                  <a:schemeClr val="dk1"/>
                </a:solidFill>
              </a:rPr>
              <a:t>Time: 50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Nathan’s actions:</a:t>
            </a:r>
            <a:endParaRPr b="1">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lang="en-US">
                <a:solidFill>
                  <a:schemeClr val="dk1"/>
                </a:solidFill>
              </a:rPr>
              <a:t>Switch to the Digital Twin.</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Select the verified held-out test day.</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Select Greedy, Current Q and Privileged Q.</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Click </a:t>
            </a:r>
            <a:r>
              <a:rPr b="1" lang="en-US">
                <a:solidFill>
                  <a:schemeClr val="dk1"/>
                </a:solidFill>
              </a:rPr>
              <a:t>Run comparison</a:t>
            </a:r>
            <a:r>
              <a:rPr lang="en-US">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Emmanuel says: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is the GréineQ Digital Twin. It replays a historical household day using demand, solar-generation and electricity-price observations.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have selected a day from the held-out test period and three controllers: Greedy, Current Q and Privileged Q.</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All three operate with the same initial battery state, tariff, battery capacity and physical constraints. Therefore, differences in their outcomes result from their dispatch decisions rather than different simulation conditions.</a:t>
            </a:r>
            <a:endParaRPr>
              <a:solidFill>
                <a:schemeClr val="dk1"/>
              </a:solidFill>
            </a:endParaRPr>
          </a:p>
          <a:p>
            <a:pPr indent="0" lvl="0" marL="0" rtl="0" algn="l">
              <a:lnSpc>
                <a:spcPct val="115000"/>
              </a:lnSpc>
              <a:spcBef>
                <a:spcPts val="1400"/>
              </a:spcBef>
              <a:spcAft>
                <a:spcPts val="0"/>
              </a:spcAft>
              <a:buClr>
                <a:schemeClr val="dk1"/>
              </a:buClr>
              <a:buSzPts val="1100"/>
              <a:buFont typeface="Arial"/>
              <a:buNone/>
            </a:pPr>
            <a:r>
              <a:rPr b="1" lang="en-US" sz="1300">
                <a:solidFill>
                  <a:schemeClr val="dk1"/>
                </a:solidFill>
              </a:rPr>
              <a:t>Live demonstration: energy and controller behaviour</a:t>
            </a:r>
            <a:endParaRPr b="1" sz="13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Operator and speaker: Nathan</a:t>
            </a:r>
            <a:br>
              <a:rPr b="1" lang="en-US">
                <a:solidFill>
                  <a:schemeClr val="dk1"/>
                </a:solidFill>
              </a:rPr>
            </a:br>
            <a:r>
              <a:rPr b="1" lang="en-US">
                <a:solidFill>
                  <a:schemeClr val="dk1"/>
                </a:solidFill>
              </a:rPr>
              <a:t>Time: 1 minute</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Actions:</a:t>
            </a:r>
            <a:endParaRPr b="1">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lang="en-US">
                <a:solidFill>
                  <a:schemeClr val="dk1"/>
                </a:solidFill>
              </a:rPr>
              <a:t>Show the summary cards.</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Open the energy and state-of-charge chart.</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Select one informative timestep.</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Open the timestep details.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Nathan says: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summary cards show each controller’s adjusted net cost, savings and final battery state for this selected day.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chart combines household demand, solar generation and battery state of charge across the 48 half-hour timesteps.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At an individual timestep, we can inspect the controller’s action, state of charge before and after the action and the resulting step cost.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For example, at this point, the controller selected </a:t>
            </a:r>
            <a:r>
              <a:rPr b="1" lang="en-US">
                <a:solidFill>
                  <a:schemeClr val="dk1"/>
                </a:solidFill>
              </a:rPr>
              <a:t>[name the visible action]</a:t>
            </a:r>
            <a:r>
              <a:rPr lang="en-US">
                <a:solidFill>
                  <a:schemeClr val="dk1"/>
                </a:solidFill>
              </a:rPr>
              <a:t>. Its state of charge changed from </a:t>
            </a:r>
            <a:r>
              <a:rPr b="1" lang="en-US">
                <a:solidFill>
                  <a:schemeClr val="dk1"/>
                </a:solidFill>
              </a:rPr>
              <a:t>[visible value]</a:t>
            </a:r>
            <a:r>
              <a:rPr lang="en-US">
                <a:solidFill>
                  <a:schemeClr val="dk1"/>
                </a:solidFill>
              </a:rPr>
              <a:t> to </a:t>
            </a:r>
            <a:r>
              <a:rPr b="1" lang="en-US">
                <a:solidFill>
                  <a:schemeClr val="dk1"/>
                </a:solidFill>
              </a:rPr>
              <a:t>[visible value]</a:t>
            </a:r>
            <a:r>
              <a:rPr lang="en-US">
                <a:solidFill>
                  <a:schemeClr val="dk1"/>
                </a:solidFill>
              </a:rPr>
              <a:t>, producing a step cost of </a:t>
            </a:r>
            <a:r>
              <a:rPr b="1" lang="en-US">
                <a:solidFill>
                  <a:schemeClr val="dk1"/>
                </a:solidFill>
              </a:rPr>
              <a:t>[visible value]</a:t>
            </a:r>
            <a:r>
              <a:rPr lang="en-US">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interface also makes it possible to identify whether a controller is charging during solar surplus, discharging to meet demand or exporting energy.</a:t>
            </a:r>
            <a:endParaRPr>
              <a:solidFill>
                <a:schemeClr val="dk1"/>
              </a:solidFill>
            </a:endParaRPr>
          </a:p>
          <a:p>
            <a:pPr indent="0" lvl="0" marL="0" rtl="0" algn="l">
              <a:lnSpc>
                <a:spcPct val="115000"/>
              </a:lnSpc>
              <a:spcBef>
                <a:spcPts val="1400"/>
              </a:spcBef>
              <a:spcAft>
                <a:spcPts val="0"/>
              </a:spcAft>
              <a:buClr>
                <a:schemeClr val="dk1"/>
              </a:buClr>
              <a:buSzPts val="1100"/>
              <a:buFont typeface="Arial"/>
              <a:buNone/>
            </a:pPr>
            <a:r>
              <a:rPr b="1" lang="en-US" sz="1300">
                <a:solidFill>
                  <a:schemeClr val="dk1"/>
                </a:solidFill>
              </a:rPr>
              <a:t>Live demonstration: aggregate results</a:t>
            </a:r>
            <a:endParaRPr b="1" sz="13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Operator and speaker: Nadeesha</a:t>
            </a:r>
            <a:br>
              <a:rPr b="1" lang="en-US">
                <a:solidFill>
                  <a:schemeClr val="dk1"/>
                </a:solidFill>
              </a:rPr>
            </a:br>
            <a:r>
              <a:rPr b="1" lang="en-US">
                <a:solidFill>
                  <a:schemeClr val="dk1"/>
                </a:solidFill>
              </a:rPr>
              <a:t>Time: 1 minute 10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Actions:</a:t>
            </a:r>
            <a:endParaRPr b="1">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lang="en-US">
                <a:solidFill>
                  <a:schemeClr val="dk1"/>
                </a:solidFill>
              </a:rPr>
              <a:t>Briefly indicate the selected-day comparison.</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Open </a:t>
            </a:r>
            <a:r>
              <a:rPr b="1" lang="en-US">
                <a:solidFill>
                  <a:schemeClr val="dk1"/>
                </a:solidFill>
              </a:rPr>
              <a:t>Experiment Results</a:t>
            </a:r>
            <a:r>
              <a:rPr lang="en-US">
                <a:solidFill>
                  <a:schemeClr val="dk1"/>
                </a:solidFill>
              </a:rPr>
              <a:t>.</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Show the controller cost chart and detailed results.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Nadeesha says: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Digital Twin view illustrates controller behaviour on one selected day. However, one day is not sufficient to evaluate overall performance.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Experiment Results page shows the aggregate evaluation across 53 held-out test days and five training seeds.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values correspond to those presented on Slide 5. Greedy produced the strongest deployable result at 90.39 Australian dollars. Current Q produced 124.23 dollars, while Privileged Q produced 139.68 dollars.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perfect-foresight result is shown as an ideal benchmark, and the no-battery result provides the comparison baseline.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Separating the selected-day simulation from the aggregate evaluation prevents us from drawing a general conclusion from one favourable or unfavourable day.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Transition:</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Return to the presentation and move to Slide 8.</a:t>
            </a:r>
            <a:endParaRPr>
              <a:solidFill>
                <a:schemeClr val="dk1"/>
              </a:solidFill>
            </a:endParaRPr>
          </a:p>
          <a:p>
            <a:pPr indent="0" lvl="0" marL="0" rtl="0" algn="l">
              <a:spcBef>
                <a:spcPts val="1200"/>
              </a:spcBef>
              <a:spcAft>
                <a:spcPts val="0"/>
              </a:spcAft>
              <a:buNone/>
            </a:pPr>
            <a:r>
              <a:t/>
            </a:r>
            <a:endParaRPr/>
          </a:p>
        </p:txBody>
      </p:sp>
      <p:sp>
        <p:nvSpPr>
          <p:cNvPr id="112" name="Google Shape;11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Speaker: Bahadir</a:t>
            </a:r>
            <a:br>
              <a:rPr b="1" lang="en-US">
                <a:solidFill>
                  <a:schemeClr val="dk1"/>
                </a:solidFill>
              </a:rPr>
            </a:br>
            <a:r>
              <a:rPr b="1" lang="en-US">
                <a:solidFill>
                  <a:schemeClr val="dk1"/>
                </a:solidFill>
              </a:rPr>
              <a:t>Time: 1 minute 10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 battery controller must be safe, inspectable and transparent about its limitations.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Within the simulation, state-of-charge and power constraints prevent invalid battery actions. The interface exposes the controller’s selected actions, observed states, costs and Q-values for inspection.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Greedy also provides a simple and understandable fallback if a learned policy behaves unexpectedly.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However, this is a software Digital Twin and not a physical battery controller. It should not be presented as ready for autonomous household deployment.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 real system using smart-meter data would require informed consent, secure storage, access control and privacy protection.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There are also fairness and accessibility concerns. Households do not have equal access to solar panels, batteries or flexible electricity tariffs.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Finally, the study uses data from one Ausgrid household and NSW1 price information. Consequently, the results should not be generalised to every household, tariff or electricity market without further evaluation.</a:t>
            </a:r>
            <a:endParaRPr>
              <a:solidFill>
                <a:schemeClr val="dk1"/>
              </a:solidFill>
            </a:endParaRPr>
          </a:p>
          <a:p>
            <a:pPr indent="0" lvl="0" marL="0" rtl="0" algn="l">
              <a:spcBef>
                <a:spcPts val="1200"/>
              </a:spcBef>
              <a:spcAft>
                <a:spcPts val="0"/>
              </a:spcAft>
              <a:buNone/>
            </a:pPr>
            <a:r>
              <a:t/>
            </a:r>
            <a:endParaRPr/>
          </a:p>
        </p:txBody>
      </p:sp>
      <p:sp>
        <p:nvSpPr>
          <p:cNvPr id="117" name="Google Shape;117;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Speaker: Bahadir</a:t>
            </a:r>
            <a:br>
              <a:rPr b="1" lang="en-US">
                <a:solidFill>
                  <a:schemeClr val="dk1"/>
                </a:solidFill>
              </a:rPr>
            </a:br>
            <a:r>
              <a:rPr b="1" lang="en-US">
                <a:solidFill>
                  <a:schemeClr val="dk1"/>
                </a:solidFill>
              </a:rPr>
              <a:t>Time on slide: 30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Agent Play allows a user to make battery decisions and compare them with Current Q and Greedy.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user can inspect the current battery state, energy demand, solar generation, prices and a realistic short-term forecast before choosing an action.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will demonstrate one decision to show how the interface supports human oversight.</a:t>
            </a:r>
            <a:endParaRPr>
              <a:solidFill>
                <a:schemeClr val="dk1"/>
              </a:solidFill>
            </a:endParaRPr>
          </a:p>
          <a:p>
            <a:pPr indent="0" lvl="0" marL="0" rtl="0" algn="l">
              <a:lnSpc>
                <a:spcPct val="115000"/>
              </a:lnSpc>
              <a:spcBef>
                <a:spcPts val="1400"/>
              </a:spcBef>
              <a:spcAft>
                <a:spcPts val="0"/>
              </a:spcAft>
              <a:buClr>
                <a:schemeClr val="dk1"/>
              </a:buClr>
              <a:buSzPts val="1100"/>
              <a:buFont typeface="Arial"/>
              <a:buNone/>
            </a:pPr>
            <a:r>
              <a:rPr b="1" lang="en-US" sz="1300">
                <a:solidFill>
                  <a:schemeClr val="dk1"/>
                </a:solidFill>
              </a:rPr>
              <a:t>Live demonstration: Agent Play</a:t>
            </a:r>
            <a:endParaRPr b="1" sz="13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Operator and speaker: Bahadir</a:t>
            </a:r>
            <a:br>
              <a:rPr b="1" lang="en-US">
                <a:solidFill>
                  <a:schemeClr val="dk1"/>
                </a:solidFill>
              </a:rPr>
            </a:br>
            <a:r>
              <a:rPr b="1" lang="en-US">
                <a:solidFill>
                  <a:schemeClr val="dk1"/>
                </a:solidFill>
              </a:rPr>
              <a:t>Time: 1 minute 20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Actions:</a:t>
            </a:r>
            <a:endParaRPr b="1">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lang="en-US">
                <a:solidFill>
                  <a:schemeClr val="dk1"/>
                </a:solidFill>
              </a:rPr>
              <a:t>Switch to </a:t>
            </a:r>
            <a:r>
              <a:rPr b="1" lang="en-US">
                <a:solidFill>
                  <a:schemeClr val="dk1"/>
                </a:solidFill>
              </a:rPr>
              <a:t>Play vs Agent</a:t>
            </a:r>
            <a:r>
              <a:rPr lang="en-US">
                <a:solidFill>
                  <a:schemeClr val="dk1"/>
                </a:solidFill>
              </a:rPr>
              <a:t>.</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Confirm that </a:t>
            </a:r>
            <a:r>
              <a:rPr b="1" lang="en-US">
                <a:solidFill>
                  <a:schemeClr val="dk1"/>
                </a:solidFill>
              </a:rPr>
              <a:t>Current Q</a:t>
            </a:r>
            <a:r>
              <a:rPr lang="en-US">
                <a:solidFill>
                  <a:schemeClr val="dk1"/>
                </a:solidFill>
              </a:rPr>
              <a:t> is the selected opponent.</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Show the current state, forecast and available actions.</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Choose one sensible action.</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Show the updated SOC, step cost and scoreboard.</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Briefly show the Current Q action and Q-value information.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Bahadir says: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At this timestep, the interface shows the current state of charge, household demand, solar generation and import and export prices.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human also receives a realistic short-term price forecast. Current Q, however, observes current-state information only. Therefore, this is an interactive oversight demonstration rather than a scientifically equal competition.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At this step, I will choose </a:t>
            </a:r>
            <a:r>
              <a:rPr b="1" lang="en-US">
                <a:solidFill>
                  <a:schemeClr val="dk1"/>
                </a:solidFill>
              </a:rPr>
              <a:t>[action]</a:t>
            </a:r>
            <a:r>
              <a:rPr lang="en-US">
                <a:solidFill>
                  <a:schemeClr val="dk1"/>
                </a:solidFill>
              </a:rPr>
              <a:t> because </a:t>
            </a:r>
            <a:r>
              <a:rPr b="1" lang="en-US">
                <a:solidFill>
                  <a:schemeClr val="dk1"/>
                </a:solidFill>
              </a:rPr>
              <a:t>[brief reason using the visible SOC, solar, demand and price]</a:t>
            </a:r>
            <a:r>
              <a:rPr lang="en-US">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After the action, we can see its effect on the battery state and step cost. The scoreboard compares the cumulative performance of the human, Current Q and Greedy.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interface also exposes Current Q’s selected action and Q-values. These values provide inspectable decision evidence, but they should not be described as human-like reasoning.</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Together, Digital Twin, Experiment Results and Agent Play demonstrate historical simulation, aggregate evaluation and human inspection of individual decisions.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Transition:</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Return to Slide 10.</a:t>
            </a:r>
            <a:endParaRPr>
              <a:solidFill>
                <a:schemeClr val="dk1"/>
              </a:solidFill>
            </a:endParaRPr>
          </a:p>
          <a:p>
            <a:pPr indent="0" lvl="0" marL="0" rtl="0" algn="l">
              <a:spcBef>
                <a:spcPts val="1200"/>
              </a:spcBef>
              <a:spcAft>
                <a:spcPts val="0"/>
              </a:spcAft>
              <a:buNone/>
            </a:pPr>
            <a:r>
              <a:t/>
            </a:r>
            <a:endParaRPr/>
          </a:p>
        </p:txBody>
      </p:sp>
      <p:sp>
        <p:nvSpPr>
          <p:cNvPr id="122" name="Google Shape;122;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US">
                <a:solidFill>
                  <a:schemeClr val="dk1"/>
                </a:solidFill>
              </a:rPr>
              <a:t>Speaker: Emmanuel</a:t>
            </a:r>
            <a:br>
              <a:rPr b="1" lang="en-US">
                <a:solidFill>
                  <a:schemeClr val="dk1"/>
                </a:solidFill>
              </a:rPr>
            </a:br>
            <a:r>
              <a:rPr b="1" lang="en-US">
                <a:solidFill>
                  <a:schemeClr val="dk1"/>
                </a:solidFill>
              </a:rPr>
              <a:t>Time: 55 seconds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To conclude, GréineQ demonstrates a complete Reinforcement Learning workflow for home battery dispatch.</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 designed the environment, trained and evaluated multiple controllers and deployed the results through an interactive Digital Twin.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Greedy achieved the strongest deployable result in our experiment, saving 43.77 per cent against the no-battery reference.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privileged future-direction feature was associated with poorer Q-Learning performance, consistent with a more sparse tabular state space and an information signal that lacked price magnitude and timing.</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interface makes controller actions, battery behaviour, costs and Q-values available for inspection. However, it remains an experimental software prototype rather than a production battery controller.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Future work will improve the state representation, evaluate additional households and tariffs and investigate methods that generalise better than a tabular Q-table.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Thank you.</a:t>
            </a:r>
            <a:endParaRPr>
              <a:solidFill>
                <a:schemeClr val="dk1"/>
              </a:solidFill>
            </a:endParaRPr>
          </a:p>
          <a:p>
            <a:pPr indent="0" lvl="0" marL="0" rtl="0" algn="l">
              <a:spcBef>
                <a:spcPts val="1200"/>
              </a:spcBef>
              <a:spcAft>
                <a:spcPts val="0"/>
              </a:spcAft>
              <a:buNone/>
            </a:pPr>
            <a:r>
              <a:t/>
            </a:r>
            <a:endParaRPr/>
          </a:p>
        </p:txBody>
      </p:sp>
      <p:sp>
        <p:nvSpPr>
          <p:cNvPr id="127" name="Google Shape;127;p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3"/>
          <p:cNvPicPr preferRelativeResize="0"/>
          <p:nvPr/>
        </p:nvPicPr>
        <p:blipFill rotWithShape="1">
          <a:blip r:embed="rId3">
            <a:alphaModFix/>
          </a:blip>
          <a:srcRect b="0" l="0" r="0" t="0"/>
          <a:stretch/>
        </p:blipFill>
        <p:spPr>
          <a:xfrm>
            <a:off x="0" y="38100"/>
            <a:ext cx="16255999" cy="906780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pic>
        <p:nvPicPr>
          <p:cNvPr id="89" name="Google Shape;89;p14"/>
          <p:cNvPicPr preferRelativeResize="0"/>
          <p:nvPr/>
        </p:nvPicPr>
        <p:blipFill rotWithShape="1">
          <a:blip r:embed="rId3">
            <a:alphaModFix/>
          </a:blip>
          <a:srcRect b="0" l="0" r="0" t="0"/>
          <a:stretch/>
        </p:blipFill>
        <p:spPr>
          <a:xfrm>
            <a:off x="0" y="38100"/>
            <a:ext cx="16256000" cy="90678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pic>
        <p:nvPicPr>
          <p:cNvPr id="94" name="Google Shape;94;p15"/>
          <p:cNvPicPr preferRelativeResize="0"/>
          <p:nvPr/>
        </p:nvPicPr>
        <p:blipFill rotWithShape="1">
          <a:blip r:embed="rId3">
            <a:alphaModFix/>
          </a:blip>
          <a:srcRect b="0" l="0" r="0" t="0"/>
          <a:stretch/>
        </p:blipFill>
        <p:spPr>
          <a:xfrm>
            <a:off x="0" y="38100"/>
            <a:ext cx="16256000" cy="90678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pic>
        <p:nvPicPr>
          <p:cNvPr id="99" name="Google Shape;99;p16"/>
          <p:cNvPicPr preferRelativeResize="0"/>
          <p:nvPr/>
        </p:nvPicPr>
        <p:blipFill rotWithShape="1">
          <a:blip r:embed="rId3">
            <a:alphaModFix/>
          </a:blip>
          <a:srcRect b="0" l="0" r="0" t="0"/>
          <a:stretch/>
        </p:blipFill>
        <p:spPr>
          <a:xfrm>
            <a:off x="0" y="38100"/>
            <a:ext cx="16256000" cy="90678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17"/>
          <p:cNvPicPr preferRelativeResize="0"/>
          <p:nvPr/>
        </p:nvPicPr>
        <p:blipFill rotWithShape="1">
          <a:blip r:embed="rId3">
            <a:alphaModFix/>
          </a:blip>
          <a:srcRect b="0" l="0" r="0" t="0"/>
          <a:stretch/>
        </p:blipFill>
        <p:spPr>
          <a:xfrm>
            <a:off x="0" y="38100"/>
            <a:ext cx="16256000" cy="90678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pic>
        <p:nvPicPr>
          <p:cNvPr id="109" name="Google Shape;109;p18"/>
          <p:cNvPicPr preferRelativeResize="0"/>
          <p:nvPr/>
        </p:nvPicPr>
        <p:blipFill rotWithShape="1">
          <a:blip r:embed="rId3">
            <a:alphaModFix/>
          </a:blip>
          <a:srcRect b="0" l="0" r="0" t="0"/>
          <a:stretch/>
        </p:blipFill>
        <p:spPr>
          <a:xfrm>
            <a:off x="0" y="38100"/>
            <a:ext cx="16256000" cy="90678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pic>
        <p:nvPicPr>
          <p:cNvPr id="114" name="Google Shape;114;p19"/>
          <p:cNvPicPr preferRelativeResize="0"/>
          <p:nvPr/>
        </p:nvPicPr>
        <p:blipFill rotWithShape="1">
          <a:blip r:embed="rId3">
            <a:alphaModFix/>
          </a:blip>
          <a:srcRect b="0" l="0" r="0" t="0"/>
          <a:stretch/>
        </p:blipFill>
        <p:spPr>
          <a:xfrm>
            <a:off x="0" y="38100"/>
            <a:ext cx="16256000" cy="90678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pic>
        <p:nvPicPr>
          <p:cNvPr id="119" name="Google Shape;119;p20"/>
          <p:cNvPicPr preferRelativeResize="0"/>
          <p:nvPr/>
        </p:nvPicPr>
        <p:blipFill rotWithShape="1">
          <a:blip r:embed="rId3">
            <a:alphaModFix/>
          </a:blip>
          <a:srcRect b="0" l="0" r="0" t="0"/>
          <a:stretch/>
        </p:blipFill>
        <p:spPr>
          <a:xfrm>
            <a:off x="0" y="38100"/>
            <a:ext cx="16256000" cy="90678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1"/>
          <p:cNvPicPr preferRelativeResize="0"/>
          <p:nvPr/>
        </p:nvPicPr>
        <p:blipFill rotWithShape="1">
          <a:blip r:embed="rId3">
            <a:alphaModFix/>
          </a:blip>
          <a:srcRect b="0" l="0" r="0" t="0"/>
          <a:stretch/>
        </p:blipFill>
        <p:spPr>
          <a:xfrm>
            <a:off x="0" y="38100"/>
            <a:ext cx="16256000" cy="90678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pic>
        <p:nvPicPr>
          <p:cNvPr id="129" name="Google Shape;129;p22"/>
          <p:cNvPicPr preferRelativeResize="0"/>
          <p:nvPr/>
        </p:nvPicPr>
        <p:blipFill rotWithShape="1">
          <a:blip r:embed="rId3">
            <a:alphaModFix/>
          </a:blip>
          <a:srcRect b="0" l="0" r="0" t="0"/>
          <a:stretch/>
        </p:blipFill>
        <p:spPr>
          <a:xfrm>
            <a:off x="0" y="38100"/>
            <a:ext cx="16255999" cy="90678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